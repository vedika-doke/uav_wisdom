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</p:sldIdLst>
  <p:sldSz cx="18288000" cy="10287000"/>
  <p:notesSz cx="6858000" cy="9144000"/>
  <p:embeddedFontLst>
    <p:embeddedFont>
      <p:font typeface="Proxima Nova Bold" charset="1" panose="02000506030000020004"/>
      <p:regular r:id="rId35"/>
    </p:embeddedFont>
    <p:embeddedFont>
      <p:font typeface="Open Sans Bold Italics" charset="1" panose="020B0806030504020204"/>
      <p:regular r:id="rId36"/>
    </p:embeddedFont>
    <p:embeddedFont>
      <p:font typeface="Open Sans" charset="1" panose="020B0606030504020204"/>
      <p:regular r:id="rId37"/>
    </p:embeddedFont>
    <p:embeddedFont>
      <p:font typeface="Proxima Nova Bold Italics" charset="1" panose="02000506030000020004"/>
      <p:regular r:id="rId38"/>
    </p:embeddedFont>
    <p:embeddedFont>
      <p:font typeface="Proxima Nova" charset="1" panose="02000506030000020004"/>
      <p:regular r:id="rId3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fonts/font35.fntdata" Type="http://schemas.openxmlformats.org/officeDocument/2006/relationships/font"/><Relationship Id="rId36" Target="fonts/font36.fntdata" Type="http://schemas.openxmlformats.org/officeDocument/2006/relationships/font"/><Relationship Id="rId37" Target="fonts/font37.fntdata" Type="http://schemas.openxmlformats.org/officeDocument/2006/relationships/font"/><Relationship Id="rId38" Target="fonts/font38.fntdata" Type="http://schemas.openxmlformats.org/officeDocument/2006/relationships/font"/><Relationship Id="rId39" Target="fonts/font39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embeddings/oleObject1.bin" Type="http://schemas.openxmlformats.org/officeDocument/2006/relationships/oleObjec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embeddings/oleObject2.bin" Type="http://schemas.openxmlformats.org/officeDocument/2006/relationships/oleObjec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embeddings/oleObject3.bin" Type="http://schemas.openxmlformats.org/officeDocument/2006/relationships/oleObjec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embeddings/oleObject4.bin" Type="http://schemas.openxmlformats.org/officeDocument/2006/relationships/oleObjec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embeddings/oleObject5.bin" Type="http://schemas.openxmlformats.org/officeDocument/2006/relationships/oleObjec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embeddings/oleObject6.bin" Type="http://schemas.openxmlformats.org/officeDocument/2006/relationships/oleObject"/><Relationship Id="rId4" Target="../media/image12.png" Type="http://schemas.openxmlformats.org/officeDocument/2006/relationships/image"/><Relationship Id="rId5" Target="../embeddings/oleObject7.bin" Type="http://schemas.openxmlformats.org/officeDocument/2006/relationships/oleObject"/><Relationship Id="rId6" Target="../media/image13.png" Type="http://schemas.openxmlformats.org/officeDocument/2006/relationships/image"/><Relationship Id="rId7" Target="../embeddings/oleObject8.bin" Type="http://schemas.openxmlformats.org/officeDocument/2006/relationships/oleObjec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embeddings/oleObject9.bin" Type="http://schemas.openxmlformats.org/officeDocument/2006/relationships/oleObject"/><Relationship Id="rId4" Target="../media/image16.png" Type="http://schemas.openxmlformats.org/officeDocument/2006/relationships/image"/><Relationship Id="rId5" Target="../embeddings/oleObject10.bin" Type="http://schemas.openxmlformats.org/officeDocument/2006/relationships/oleObject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jpe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embeddings/oleObject11.bin" Type="http://schemas.openxmlformats.org/officeDocument/2006/relationships/oleObject"/><Relationship Id="rId4" Target="../media/image19.png" Type="http://schemas.openxmlformats.org/officeDocument/2006/relationships/image"/><Relationship Id="rId5" Target="../embeddings/oleObject12.bin" Type="http://schemas.openxmlformats.org/officeDocument/2006/relationships/oleObject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jpe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embeddings/oleObject13.bin" Type="http://schemas.openxmlformats.org/officeDocument/2006/relationships/oleObject"/><Relationship Id="rId4" Target="../media/image22.png" Type="http://schemas.openxmlformats.org/officeDocument/2006/relationships/image"/><Relationship Id="rId5" Target="../embeddings/oleObject14.bin" Type="http://schemas.openxmlformats.org/officeDocument/2006/relationships/oleObject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jpe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jpe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Relationship Id="rId3" Target="../embeddings/oleObject15.bin" Type="http://schemas.openxmlformats.org/officeDocument/2006/relationships/oleObject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jpe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jpe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png" Type="http://schemas.openxmlformats.org/officeDocument/2006/relationships/image"/><Relationship Id="rId3" Target="../embeddings/oleObject16.bin" Type="http://schemas.openxmlformats.org/officeDocument/2006/relationships/oleObject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195961" y="5935345"/>
            <a:ext cx="8126677" cy="8126677"/>
          </a:xfrm>
          <a:custGeom>
            <a:avLst/>
            <a:gdLst/>
            <a:ahLst/>
            <a:cxnLst/>
            <a:rect r="r" b="b" t="t" l="l"/>
            <a:pathLst>
              <a:path h="8126677" w="8126677">
                <a:moveTo>
                  <a:pt x="0" y="0"/>
                </a:moveTo>
                <a:lnTo>
                  <a:pt x="8126678" y="0"/>
                </a:lnTo>
                <a:lnTo>
                  <a:pt x="8126678" y="8126677"/>
                </a:lnTo>
                <a:lnTo>
                  <a:pt x="0" y="8126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350137" y="-1742992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994970" y="-1387826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7"/>
                </a:lnTo>
                <a:lnTo>
                  <a:pt x="0" y="34044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897411" y="6636795"/>
            <a:ext cx="6723778" cy="6723778"/>
          </a:xfrm>
          <a:custGeom>
            <a:avLst/>
            <a:gdLst/>
            <a:ahLst/>
            <a:cxnLst/>
            <a:rect r="r" b="b" t="t" l="l"/>
            <a:pathLst>
              <a:path h="6723778" w="6723778">
                <a:moveTo>
                  <a:pt x="0" y="0"/>
                </a:moveTo>
                <a:lnTo>
                  <a:pt x="6723778" y="0"/>
                </a:lnTo>
                <a:lnTo>
                  <a:pt x="6723778" y="6723778"/>
                </a:lnTo>
                <a:lnTo>
                  <a:pt x="0" y="67237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4876906" y="7616290"/>
            <a:ext cx="4764788" cy="4764788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-499020" y="-891876"/>
            <a:ext cx="2412567" cy="2412567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0" y="2472718"/>
            <a:ext cx="17662138" cy="4164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08"/>
              </a:lnSpc>
            </a:pPr>
            <a:r>
              <a:rPr lang="en-US" b="true" sz="11934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CUSTOM AIO FLIGHT CONTROLLER DESIGN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057400" y="-1258963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702233" y="-903796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99586" y="37533"/>
            <a:ext cx="19133969" cy="2259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42"/>
              </a:lnSpc>
            </a:pPr>
            <a:r>
              <a:rPr lang="en-US" b="true" sz="4173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GOAL</a:t>
            </a:r>
          </a:p>
          <a:p>
            <a:pPr algn="ctr">
              <a:lnSpc>
                <a:spcPts val="5842"/>
              </a:lnSpc>
            </a:pPr>
            <a:r>
              <a:rPr lang="en-US" sz="4173" b="true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Design an ultra-lightweight All-In-One Flight Controller capable of controlling an autonomous drone.</a:t>
            </a:r>
          </a:p>
          <a:p>
            <a:pPr algn="ctr">
              <a:lnSpc>
                <a:spcPts val="105"/>
              </a:lnSpc>
            </a:pP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230600" y="72009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585767" y="7556067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998733" y="7969033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1289267" y="-490830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243611" y="3448254"/>
            <a:ext cx="8742521" cy="6562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90926" indent="-445463" lvl="1">
              <a:lnSpc>
                <a:spcPts val="5777"/>
              </a:lnSpc>
              <a:buFont typeface="Arial"/>
              <a:buChar char="•"/>
            </a:pPr>
            <a:r>
              <a:rPr lang="en-US" b="true" sz="4126" i="true">
                <a:solidFill>
                  <a:srgbClr val="0000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Specifications</a:t>
            </a:r>
          </a:p>
          <a:p>
            <a:pPr algn="l" marL="890926" indent="-445463" lvl="1">
              <a:lnSpc>
                <a:spcPts val="5777"/>
              </a:lnSpc>
              <a:buFont typeface="Arial"/>
              <a:buChar char="•"/>
            </a:pPr>
            <a:r>
              <a:rPr lang="en-US" sz="4126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Small size (25×25 mm)</a:t>
            </a:r>
          </a:p>
          <a:p>
            <a:pPr algn="l" marL="890926" indent="-445463" lvl="1">
              <a:lnSpc>
                <a:spcPts val="5777"/>
              </a:lnSpc>
              <a:buFont typeface="Arial"/>
              <a:buChar char="•"/>
            </a:pPr>
            <a:r>
              <a:rPr lang="en-US" sz="4126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Lightweight (Target ≈3.14 g PCB)</a:t>
            </a:r>
          </a:p>
          <a:p>
            <a:pPr algn="l" marL="890926" indent="-445463" lvl="1">
              <a:lnSpc>
                <a:spcPts val="5777"/>
              </a:lnSpc>
              <a:buFont typeface="Arial"/>
              <a:buChar char="•"/>
            </a:pPr>
            <a:r>
              <a:rPr lang="en-US" sz="4126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Long range communication</a:t>
            </a:r>
          </a:p>
          <a:p>
            <a:pPr algn="l" marL="890926" indent="-445463" lvl="1">
              <a:lnSpc>
                <a:spcPts val="5777"/>
              </a:lnSpc>
              <a:buFont typeface="Arial"/>
              <a:buChar char="•"/>
            </a:pPr>
            <a:r>
              <a:rPr lang="en-US" sz="4126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IMU based stabilization</a:t>
            </a:r>
          </a:p>
          <a:p>
            <a:pPr algn="l" marL="890926" indent="-445463" lvl="1">
              <a:lnSpc>
                <a:spcPts val="5777"/>
              </a:lnSpc>
              <a:buFont typeface="Arial"/>
              <a:buChar char="•"/>
            </a:pPr>
            <a:r>
              <a:rPr lang="en-US" sz="4126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ArduPilot compatibility</a:t>
            </a:r>
          </a:p>
          <a:p>
            <a:pPr algn="l" marL="890926" indent="-445463" lvl="1">
              <a:lnSpc>
                <a:spcPts val="5777"/>
              </a:lnSpc>
              <a:buFont typeface="Arial"/>
              <a:buChar char="•"/>
            </a:pPr>
            <a:r>
              <a:rPr lang="en-US" sz="4126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Battery powered</a:t>
            </a:r>
          </a:p>
          <a:p>
            <a:pPr algn="l" marL="890926" indent="-445463" lvl="1">
              <a:lnSpc>
                <a:spcPts val="5777"/>
              </a:lnSpc>
              <a:buFont typeface="Arial"/>
              <a:buChar char="•"/>
            </a:pPr>
            <a:r>
              <a:rPr lang="en-US" sz="4126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USB programming</a:t>
            </a:r>
          </a:p>
          <a:p>
            <a:pPr algn="l" marL="890926" indent="-445463" lvl="1">
              <a:lnSpc>
                <a:spcPts val="5777"/>
              </a:lnSpc>
              <a:buFont typeface="Arial"/>
              <a:buChar char="•"/>
            </a:pPr>
            <a:r>
              <a:rPr lang="en-US" sz="4126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External Flash storage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057400" y="-1258963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702233" y="-903796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289267" y="-490830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2129385" y="-2859528"/>
            <a:ext cx="3911463" cy="3911463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aphicFrame>
        <p:nvGraphicFramePr>
          <p:cNvPr name="Object 8" id="8"/>
          <p:cNvGraphicFramePr/>
          <p:nvPr/>
        </p:nvGraphicFramePr>
        <p:xfrm>
          <a:off x="2448911" y="2500670"/>
          <a:ext cx="3771900" cy="7543800"/>
        </p:xfrm>
        <a:graphic>
          <a:graphicData uri="http://schemas.openxmlformats.org/presentationml/2006/ole">
            <p:oleObj imgW="5270500" imgH="9042400" r:id="rId5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9" id="9"/>
          <p:cNvSpPr txBox="true"/>
          <p:nvPr/>
        </p:nvSpPr>
        <p:spPr>
          <a:xfrm rot="0">
            <a:off x="93308" y="-129511"/>
            <a:ext cx="16045513" cy="27971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b="true" sz="800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COMPLETE HARDWARE ARCHITECTURE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057400" y="-1258963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702233" y="-903796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230600" y="72009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585767" y="7556067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998733" y="7969033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1289267" y="-490830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-1371727" y="-266431"/>
            <a:ext cx="21254395" cy="402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599"/>
              </a:lnSpc>
            </a:pPr>
            <a:r>
              <a:rPr lang="en-US" b="true" sz="900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POWER SUPPLY SECTION</a:t>
            </a:r>
          </a:p>
          <a:p>
            <a:pPr algn="ctr">
              <a:lnSpc>
                <a:spcPts val="7000"/>
              </a:lnSpc>
            </a:pPr>
            <a:r>
              <a:rPr lang="en-US" sz="5000" b="true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Component: MPM3610 Buck Converter</a:t>
            </a:r>
          </a:p>
          <a:p>
            <a:pPr algn="ctr">
              <a:lnSpc>
                <a:spcPts val="12599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73242" y="2680324"/>
            <a:ext cx="11650345" cy="72108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87203" indent="-443602" lvl="1">
              <a:lnSpc>
                <a:spcPts val="5753"/>
              </a:lnSpc>
              <a:buFont typeface="Arial"/>
              <a:buChar char="•"/>
            </a:pPr>
            <a:r>
              <a:rPr lang="en-US" b="true" sz="4109" i="true">
                <a:solidFill>
                  <a:srgbClr val="000000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FUNCTION</a:t>
            </a:r>
          </a:p>
          <a:p>
            <a:pPr algn="l" marL="887203" indent="-443602" lvl="1">
              <a:lnSpc>
                <a:spcPts val="5753"/>
              </a:lnSpc>
              <a:buFont typeface="Arial"/>
              <a:buChar char="•"/>
            </a:pPr>
            <a:r>
              <a:rPr lang="en-US" sz="4109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CONVERTS VBAT (3.0–4.2 V) TO 3.3 V</a:t>
            </a:r>
          </a:p>
          <a:p>
            <a:pPr algn="l" marL="887203" indent="-443602" lvl="1">
              <a:lnSpc>
                <a:spcPts val="5753"/>
              </a:lnSpc>
              <a:buFont typeface="Arial"/>
              <a:buChar char="•"/>
            </a:pPr>
            <a:r>
              <a:rPr lang="en-US" sz="4109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POWERS ALL DIGITAL COMPONENTS</a:t>
            </a:r>
          </a:p>
          <a:p>
            <a:pPr algn="l" marL="887203" indent="-443602" lvl="1">
              <a:lnSpc>
                <a:spcPts val="5753"/>
              </a:lnSpc>
              <a:buFont typeface="Arial"/>
              <a:buChar char="•"/>
            </a:pPr>
            <a:r>
              <a:rPr lang="en-US" sz="4109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HIGH EFFICIENCY (~90–95%)</a:t>
            </a:r>
          </a:p>
          <a:p>
            <a:pPr algn="l" marL="887203" indent="-443602" lvl="1">
              <a:lnSpc>
                <a:spcPts val="5753"/>
              </a:lnSpc>
              <a:buFont typeface="Arial"/>
              <a:buChar char="•"/>
            </a:pPr>
            <a:r>
              <a:rPr lang="en-US" sz="4109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MAXIMUM OUTPUT CURRENT: 1.2 A</a:t>
            </a:r>
          </a:p>
          <a:p>
            <a:pPr algn="l" marL="887203" indent="-443602" lvl="1">
              <a:lnSpc>
                <a:spcPts val="5753"/>
              </a:lnSpc>
              <a:buFont typeface="Arial"/>
              <a:buChar char="•"/>
            </a:pPr>
            <a:r>
              <a:rPr lang="en-US" b="true" sz="4109" i="true">
                <a:solidFill>
                  <a:srgbClr val="000000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SUPPORTING COMPONENTS</a:t>
            </a:r>
          </a:p>
          <a:p>
            <a:pPr algn="l" marL="887203" indent="-443602" lvl="1">
              <a:lnSpc>
                <a:spcPts val="5753"/>
              </a:lnSpc>
              <a:buFont typeface="Arial"/>
              <a:buChar char="•"/>
            </a:pPr>
            <a:r>
              <a:rPr lang="en-US" sz="4109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C7 – 10 ΜF (INPUT FILTER)</a:t>
            </a:r>
          </a:p>
          <a:p>
            <a:pPr algn="l" marL="887203" indent="-443602" lvl="1">
              <a:lnSpc>
                <a:spcPts val="5753"/>
              </a:lnSpc>
              <a:buFont typeface="Arial"/>
              <a:buChar char="•"/>
            </a:pPr>
            <a:r>
              <a:rPr lang="en-US" sz="4109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C8 – 100 NF (NOISE FILTER)</a:t>
            </a:r>
          </a:p>
          <a:p>
            <a:pPr algn="l" marL="887203" indent="-443602" lvl="1">
              <a:lnSpc>
                <a:spcPts val="5753"/>
              </a:lnSpc>
              <a:buFont typeface="Arial"/>
              <a:buChar char="•"/>
            </a:pPr>
            <a:r>
              <a:rPr lang="en-US" sz="4109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C9, C10 – 22 ΜF (OUTPUT STABILIZATION)</a:t>
            </a:r>
          </a:p>
          <a:p>
            <a:pPr algn="l" marL="887203" indent="-443602" lvl="1">
              <a:lnSpc>
                <a:spcPts val="5753"/>
              </a:lnSpc>
              <a:buFont typeface="Arial"/>
              <a:buChar char="•"/>
            </a:pPr>
            <a:r>
              <a:rPr lang="en-US" sz="4109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C11, C12 – 100 NF (HIGH-FREQUENCY BYPASS)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621792" y="2021029"/>
            <a:ext cx="5136674" cy="70353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13683" indent="-406841" lvl="1">
              <a:lnSpc>
                <a:spcPts val="5276"/>
              </a:lnSpc>
              <a:buFont typeface="Arial"/>
              <a:buChar char="•"/>
            </a:pPr>
            <a:r>
              <a:rPr lang="en-US" b="true" sz="3768" i="true">
                <a:solidFill>
                  <a:srgbClr val="0000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Specifications</a:t>
            </a:r>
          </a:p>
          <a:p>
            <a:pPr algn="l" marL="705736" indent="-352868" lvl="1">
              <a:lnSpc>
                <a:spcPts val="4576"/>
              </a:lnSpc>
              <a:buFont typeface="Arial"/>
              <a:buChar char="•"/>
            </a:pPr>
            <a:r>
              <a:rPr lang="en-US" sz="326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Input Voltage</a:t>
            </a:r>
          </a:p>
          <a:p>
            <a:pPr algn="l">
              <a:lnSpc>
                <a:spcPts val="4576"/>
              </a:lnSpc>
            </a:pPr>
            <a:r>
              <a:rPr lang="en-US" sz="326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4.5V – 21V</a:t>
            </a:r>
          </a:p>
          <a:p>
            <a:pPr algn="l" marL="705736" indent="-352868" lvl="1">
              <a:lnSpc>
                <a:spcPts val="4576"/>
              </a:lnSpc>
              <a:buFont typeface="Arial"/>
              <a:buChar char="•"/>
            </a:pPr>
            <a:r>
              <a:rPr lang="en-US" sz="326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Output Voltage</a:t>
            </a:r>
          </a:p>
          <a:p>
            <a:pPr algn="l">
              <a:lnSpc>
                <a:spcPts val="4576"/>
              </a:lnSpc>
            </a:pPr>
            <a:r>
              <a:rPr lang="en-US" sz="326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Adjustable</a:t>
            </a:r>
          </a:p>
          <a:p>
            <a:pPr algn="l" marL="705736" indent="-352868" lvl="1">
              <a:lnSpc>
                <a:spcPts val="4576"/>
              </a:lnSpc>
              <a:buFont typeface="Arial"/>
              <a:buChar char="•"/>
            </a:pPr>
            <a:r>
              <a:rPr lang="en-US" sz="326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3.3V</a:t>
            </a:r>
          </a:p>
          <a:p>
            <a:pPr algn="l">
              <a:lnSpc>
                <a:spcPts val="4576"/>
              </a:lnSpc>
            </a:pPr>
            <a:r>
              <a:rPr lang="en-US" sz="326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Maximum Output Current</a:t>
            </a:r>
          </a:p>
          <a:p>
            <a:pPr algn="l" marL="705736" indent="-352868" lvl="1">
              <a:lnSpc>
                <a:spcPts val="4576"/>
              </a:lnSpc>
              <a:buFont typeface="Arial"/>
              <a:buChar char="•"/>
            </a:pPr>
            <a:r>
              <a:rPr lang="en-US" sz="326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1.2A</a:t>
            </a:r>
          </a:p>
          <a:p>
            <a:pPr algn="l">
              <a:lnSpc>
                <a:spcPts val="4576"/>
              </a:lnSpc>
            </a:pPr>
            <a:r>
              <a:rPr lang="en-US" sz="326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Efficiency</a:t>
            </a:r>
          </a:p>
          <a:p>
            <a:pPr algn="l" marL="705736" indent="-352868" lvl="1">
              <a:lnSpc>
                <a:spcPts val="4576"/>
              </a:lnSpc>
              <a:buFont typeface="Arial"/>
              <a:buChar char="•"/>
            </a:pPr>
            <a:r>
              <a:rPr lang="en-US" sz="326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Approximately 90–95%</a:t>
            </a:r>
          </a:p>
          <a:p>
            <a:pPr algn="l">
              <a:lnSpc>
                <a:spcPts val="4576"/>
              </a:lnSpc>
            </a:pPr>
            <a:r>
              <a:rPr lang="en-US" sz="326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Switching Frequency</a:t>
            </a:r>
          </a:p>
          <a:p>
            <a:pPr algn="l" marL="705736" indent="-352868" lvl="1">
              <a:lnSpc>
                <a:spcPts val="4576"/>
              </a:lnSpc>
              <a:buFont typeface="Arial"/>
              <a:buChar char="•"/>
            </a:pPr>
            <a:r>
              <a:rPr lang="en-US" sz="326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About 2 MHz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93624" y="268515"/>
            <a:ext cx="18104172" cy="9531526"/>
          </a:xfrm>
          <a:custGeom>
            <a:avLst/>
            <a:gdLst/>
            <a:ahLst/>
            <a:cxnLst/>
            <a:rect r="r" b="b" t="t" l="l"/>
            <a:pathLst>
              <a:path h="9531526" w="18104172">
                <a:moveTo>
                  <a:pt x="0" y="0"/>
                </a:moveTo>
                <a:lnTo>
                  <a:pt x="18104172" y="0"/>
                </a:lnTo>
                <a:lnTo>
                  <a:pt x="18104172" y="9531526"/>
                </a:lnTo>
                <a:lnTo>
                  <a:pt x="0" y="95315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6021" t="0" r="-16021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230600" y="72009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585767" y="7556067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998733" y="7969033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Object 5" id="5"/>
          <p:cNvGraphicFramePr/>
          <p:nvPr/>
        </p:nvGraphicFramePr>
        <p:xfrm>
          <a:off x="13267317" y="1058042"/>
          <a:ext cx="3526971" cy="8229600"/>
        </p:xfrm>
        <a:graphic>
          <a:graphicData uri="http://schemas.openxmlformats.org/presentationml/2006/ole">
            <p:oleObj imgW="5168900" imgH="9867900" r:id="rId5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6" id="6"/>
          <p:cNvSpPr txBox="true"/>
          <p:nvPr/>
        </p:nvSpPr>
        <p:spPr>
          <a:xfrm rot="0">
            <a:off x="-560101" y="138470"/>
            <a:ext cx="19790385" cy="7454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60"/>
              </a:lnSpc>
            </a:pPr>
            <a:r>
              <a:rPr lang="en-US" b="true" sz="440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STM32F411CEU6 – FLIGHT CONTROLLER (MAIN PROCESSING UNIT)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0" y="962025"/>
            <a:ext cx="12336780" cy="31908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805" indent="-323903" lvl="1">
              <a:lnSpc>
                <a:spcPts val="4200"/>
              </a:lnSpc>
              <a:buFont typeface="Arial"/>
              <a:buChar char="•"/>
            </a:pPr>
            <a:r>
              <a:rPr lang="en-US" b="true" sz="3000" i="true">
                <a:solidFill>
                  <a:srgbClr val="000000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ROLE IN THE SYSTEM</a:t>
            </a:r>
          </a:p>
          <a:p>
            <a:pPr algn="l" marL="647805" indent="-323903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CENTRAL PROCESSING UNIT (BRAIN OF THE AIO BOARD)</a:t>
            </a:r>
          </a:p>
          <a:p>
            <a:pPr algn="l" marL="647805" indent="-323903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EXECUTES FLIGHT CONTROL FIRMWARE</a:t>
            </a:r>
          </a:p>
          <a:p>
            <a:pPr algn="l" marL="647805" indent="-323903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COMMUNICATES WITH ALL ONBOARD PERIPHERALS</a:t>
            </a:r>
          </a:p>
          <a:p>
            <a:pPr algn="l" marL="647805" indent="-323903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GENERATES MOTOR CONTROL SIGNALS</a:t>
            </a:r>
          </a:p>
          <a:p>
            <a:pPr algn="l" marL="647805" indent="-323903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MANAGES WIRELESS COMMUNICATION AND SENSOR PROCESSING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17938" y="5353001"/>
            <a:ext cx="10212387" cy="36486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2454" indent="-321227" lvl="1">
              <a:lnSpc>
                <a:spcPts val="4165"/>
              </a:lnSpc>
              <a:buFont typeface="Arial"/>
              <a:buChar char="•"/>
            </a:pPr>
            <a:r>
              <a:rPr lang="en-US" b="true" sz="2975" i="true">
                <a:solidFill>
                  <a:srgbClr val="000000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MAJOR FUNCTIONS</a:t>
            </a:r>
          </a:p>
          <a:p>
            <a:pPr algn="l" marL="642454" indent="-321227" lvl="1">
              <a:lnSpc>
                <a:spcPts val="4165"/>
              </a:lnSpc>
              <a:buFont typeface="Arial"/>
              <a:buChar char="•"/>
            </a:pPr>
            <a:r>
              <a:rPr lang="en-US" sz="2975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READS IMU SENSOR DATA</a:t>
            </a:r>
          </a:p>
          <a:p>
            <a:pPr algn="l" marL="642454" indent="-321227" lvl="1">
              <a:lnSpc>
                <a:spcPts val="4165"/>
              </a:lnSpc>
              <a:buFont typeface="Arial"/>
              <a:buChar char="•"/>
            </a:pPr>
            <a:r>
              <a:rPr lang="en-US" sz="2975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PROCESSES FLIGHT CONTROL ALGORITHM</a:t>
            </a:r>
          </a:p>
          <a:p>
            <a:pPr algn="l" marL="642454" indent="-321227" lvl="1">
              <a:lnSpc>
                <a:spcPts val="4165"/>
              </a:lnSpc>
              <a:buFont typeface="Arial"/>
              <a:buChar char="•"/>
            </a:pPr>
            <a:r>
              <a:rPr lang="en-US" sz="2975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CONTROLS BRUSHED MOTORS</a:t>
            </a:r>
          </a:p>
          <a:p>
            <a:pPr algn="l" marL="642454" indent="-321227" lvl="1">
              <a:lnSpc>
                <a:spcPts val="4165"/>
              </a:lnSpc>
              <a:buFont typeface="Arial"/>
              <a:buChar char="•"/>
            </a:pPr>
            <a:r>
              <a:rPr lang="en-US" sz="2975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STORES CONFIGURATION IN FLASH MEMORY</a:t>
            </a:r>
          </a:p>
          <a:p>
            <a:pPr algn="l" marL="642454" indent="-321227" lvl="1">
              <a:lnSpc>
                <a:spcPts val="4165"/>
              </a:lnSpc>
              <a:buFont typeface="Arial"/>
              <a:buChar char="•"/>
            </a:pPr>
            <a:r>
              <a:rPr lang="en-US" sz="2975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COMMUNICATES WITH RF MODULE</a:t>
            </a:r>
          </a:p>
          <a:p>
            <a:pPr algn="l" marL="642454" indent="-321227" lvl="1">
              <a:lnSpc>
                <a:spcPts val="4165"/>
              </a:lnSpc>
              <a:buFont typeface="Arial"/>
              <a:buChar char="•"/>
            </a:pPr>
            <a:r>
              <a:rPr lang="en-US" sz="2975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SUPPORTS USB PROGRAMMING AND SWD DEBUGGING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96474" y="-32988"/>
            <a:ext cx="16328180" cy="10043833"/>
          </a:xfrm>
          <a:custGeom>
            <a:avLst/>
            <a:gdLst/>
            <a:ahLst/>
            <a:cxnLst/>
            <a:rect r="r" b="b" t="t" l="l"/>
            <a:pathLst>
              <a:path h="10043833" w="16328180">
                <a:moveTo>
                  <a:pt x="0" y="0"/>
                </a:moveTo>
                <a:lnTo>
                  <a:pt x="16328179" y="0"/>
                </a:lnTo>
                <a:lnTo>
                  <a:pt x="16328179" y="10043833"/>
                </a:lnTo>
                <a:lnTo>
                  <a:pt x="0" y="100438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0" y="3629349"/>
            <a:ext cx="10015855" cy="26930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69395" indent="-334697" lvl="1">
              <a:lnSpc>
                <a:spcPts val="4340"/>
              </a:lnSpc>
              <a:buFont typeface="Arial"/>
              <a:buChar char="•"/>
            </a:pPr>
            <a:r>
              <a:rPr lang="en-US" b="true" sz="3100" i="true">
                <a:solidFill>
                  <a:srgbClr val="000000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PURPOSE</a:t>
            </a:r>
          </a:p>
          <a:p>
            <a:pPr algn="l" marL="669395" indent="-334697" lvl="1">
              <a:lnSpc>
                <a:spcPts val="4340"/>
              </a:lnSpc>
              <a:buFont typeface="Arial"/>
              <a:buChar char="•"/>
            </a:pPr>
            <a:r>
              <a:rPr lang="en-US" sz="31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PROVIDES A STABLE CLOCK SOURCE FOR STM32</a:t>
            </a:r>
          </a:p>
          <a:p>
            <a:pPr algn="l" marL="669395" indent="-334697" lvl="1">
              <a:lnSpc>
                <a:spcPts val="4340"/>
              </a:lnSpc>
              <a:buFont typeface="Arial"/>
              <a:buChar char="•"/>
            </a:pPr>
            <a:r>
              <a:rPr lang="en-US" sz="31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ENSURES ACCURATE TIMING FOR ALL PERIPHERALS</a:t>
            </a:r>
          </a:p>
          <a:p>
            <a:pPr algn="l" marL="669395" indent="-334697" lvl="1">
              <a:lnSpc>
                <a:spcPts val="4340"/>
              </a:lnSpc>
              <a:buFont typeface="Arial"/>
              <a:buChar char="•"/>
            </a:pPr>
            <a:r>
              <a:rPr lang="en-US" sz="31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IMPROVES USB COMMUNICATION ACCURACY</a:t>
            </a:r>
          </a:p>
          <a:p>
            <a:pPr algn="l" marL="669395" indent="-334697" lvl="1">
              <a:lnSpc>
                <a:spcPts val="4340"/>
              </a:lnSpc>
              <a:buFont typeface="Arial"/>
              <a:buChar char="•"/>
            </a:pPr>
            <a:r>
              <a:rPr lang="en-US" sz="31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ENABLES RELIABLE SPI COMMUNICATION</a:t>
            </a:r>
          </a:p>
        </p:txBody>
      </p:sp>
      <p:graphicFrame>
        <p:nvGraphicFramePr>
          <p:cNvPr name="Object 3" id="3"/>
          <p:cNvGraphicFramePr/>
          <p:nvPr/>
        </p:nvGraphicFramePr>
        <p:xfrm>
          <a:off x="10602154" y="1845369"/>
          <a:ext cx="3771900" cy="2514600"/>
        </p:xfrm>
        <a:graphic>
          <a:graphicData uri="http://schemas.openxmlformats.org/presentationml/2006/ole">
            <p:oleObj imgW="4521200" imgH="32639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4" id="4"/>
          <p:cNvSpPr txBox="true"/>
          <p:nvPr/>
        </p:nvSpPr>
        <p:spPr>
          <a:xfrm rot="0">
            <a:off x="-348847" y="163125"/>
            <a:ext cx="18985694" cy="1120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00"/>
              </a:lnSpc>
            </a:pPr>
            <a:r>
              <a:rPr lang="en-US" b="true" sz="650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CLOCK CIRCUIT (SYSTEM CLOCK GENERATION)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0" y="1224200"/>
            <a:ext cx="9089231" cy="20345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42110" indent="-421055" lvl="1">
              <a:lnSpc>
                <a:spcPts val="5460"/>
              </a:lnSpc>
              <a:buFont typeface="Arial"/>
              <a:buChar char="•"/>
            </a:pPr>
            <a:r>
              <a:rPr lang="en-US" b="true" sz="3900" i="true">
                <a:solidFill>
                  <a:srgbClr val="000000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COMPONENTS USED</a:t>
            </a:r>
          </a:p>
          <a:p>
            <a:pPr algn="l" marL="842110" indent="-421055" lvl="1">
              <a:lnSpc>
                <a:spcPts val="5460"/>
              </a:lnSpc>
              <a:buFont typeface="Arial"/>
              <a:buChar char="•"/>
            </a:pPr>
            <a:r>
              <a:rPr lang="en-US" sz="39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8 MHZ CRYSTAL OSCILLATOR (X2)</a:t>
            </a:r>
          </a:p>
          <a:p>
            <a:pPr algn="l" marL="842110" indent="-421055" lvl="1">
              <a:lnSpc>
                <a:spcPts val="5460"/>
              </a:lnSpc>
              <a:buFont typeface="Arial"/>
              <a:buChar char="•"/>
            </a:pPr>
            <a:r>
              <a:rPr lang="en-US" sz="39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2 × 18 PF LOAD CAPACITORS (C5, C6)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681599" y="1224200"/>
            <a:ext cx="3893185" cy="6629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60"/>
              </a:lnSpc>
              <a:spcBef>
                <a:spcPct val="0"/>
              </a:spcBef>
            </a:pPr>
            <a:r>
              <a:rPr lang="en-US" b="true" sz="3900" i="true">
                <a:solidFill>
                  <a:srgbClr val="000000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SPECIFICATIONS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-81188" y="6956581"/>
            <a:ext cx="5488623" cy="26930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69395" indent="-334697" lvl="1">
              <a:lnSpc>
                <a:spcPts val="4340"/>
              </a:lnSpc>
              <a:buFont typeface="Arial"/>
              <a:buChar char="•"/>
            </a:pPr>
            <a:r>
              <a:rPr lang="en-US" b="true" sz="3100" i="true">
                <a:solidFill>
                  <a:srgbClr val="000000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CONNECTIONS</a:t>
            </a:r>
          </a:p>
          <a:p>
            <a:pPr algn="l" marL="669395" indent="-334697" lvl="1">
              <a:lnSpc>
                <a:spcPts val="4340"/>
              </a:lnSpc>
              <a:buFont typeface="Arial"/>
              <a:buChar char="•"/>
            </a:pPr>
            <a:r>
              <a:rPr lang="en-US" sz="31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PH0 (OSC_IN) → CRYSTAL</a:t>
            </a:r>
          </a:p>
          <a:p>
            <a:pPr algn="l" marL="669395" indent="-334697" lvl="1">
              <a:lnSpc>
                <a:spcPts val="4340"/>
              </a:lnSpc>
              <a:buFont typeface="Arial"/>
              <a:buChar char="•"/>
            </a:pPr>
            <a:r>
              <a:rPr lang="en-US" sz="31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PH1 (OSC_OUT) → CRYSTAL</a:t>
            </a:r>
          </a:p>
          <a:p>
            <a:pPr algn="l" marL="669395" indent="-334697" lvl="1">
              <a:lnSpc>
                <a:spcPts val="4340"/>
              </a:lnSpc>
              <a:buFont typeface="Arial"/>
              <a:buChar char="•"/>
            </a:pPr>
            <a:r>
              <a:rPr lang="en-US" sz="31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C5 → CRYSTAL TO GND</a:t>
            </a:r>
          </a:p>
          <a:p>
            <a:pPr algn="l" marL="669395" indent="-334697" lvl="1">
              <a:lnSpc>
                <a:spcPts val="4340"/>
              </a:lnSpc>
              <a:buFont typeface="Arial"/>
              <a:buChar char="•"/>
            </a:pPr>
            <a:r>
              <a:rPr lang="en-US" sz="31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C6 → CRYSTAL TO GND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153219" y="127670"/>
            <a:ext cx="10261737" cy="1252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221"/>
              </a:lnSpc>
            </a:pPr>
            <a:r>
              <a:rPr lang="en-US" b="true" sz="7301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RESET &amp; BOOT CIRCUIT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0" y="1313815"/>
            <a:ext cx="5670868" cy="21240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805" indent="-323903" lvl="1">
              <a:lnSpc>
                <a:spcPts val="4200"/>
              </a:lnSpc>
              <a:buFont typeface="Arial"/>
              <a:buChar char="•"/>
            </a:pPr>
            <a:r>
              <a:rPr lang="en-US" b="true" sz="3000" i="true">
                <a:solidFill>
                  <a:srgbClr val="000000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RESET CIRCUIT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COMPONENTS USED</a:t>
            </a:r>
          </a:p>
          <a:p>
            <a:pPr algn="l" marL="647805" indent="-323903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RESET PUSH BUTTON (SW2)</a:t>
            </a:r>
          </a:p>
          <a:p>
            <a:pPr algn="l" marL="647805" indent="-323903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10 KΩ PULL-UP RESISTOR (R1)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0" y="3976327"/>
            <a:ext cx="6557169" cy="47910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805" indent="-323903" lvl="1">
              <a:lnSpc>
                <a:spcPts val="4200"/>
              </a:lnSpc>
              <a:buFont typeface="Arial"/>
              <a:buChar char="•"/>
            </a:pPr>
            <a:r>
              <a:rPr lang="en-US" b="true" sz="3000" i="true">
                <a:solidFill>
                  <a:srgbClr val="000000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PURPOSE</a:t>
            </a:r>
          </a:p>
          <a:p>
            <a:pPr algn="l" marL="647805" indent="-323903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MANUALLY RESETS THE STM32</a:t>
            </a:r>
          </a:p>
          <a:p>
            <a:pPr algn="l" marL="647805" indent="-323903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RESTARTS FIRMWARE EXECUTION</a:t>
            </a:r>
          </a:p>
          <a:p>
            <a:pPr algn="l" marL="647805" indent="-323903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USED DURING DEBUGGING AND </a:t>
            </a:r>
          </a:p>
          <a:p>
            <a:pPr algn="l" marL="647805" indent="-323903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FIRMWARE DEVELOPMENT</a:t>
            </a:r>
          </a:p>
          <a:p>
            <a:pPr algn="l" marL="647805" indent="-323903" lvl="1">
              <a:lnSpc>
                <a:spcPts val="4200"/>
              </a:lnSpc>
              <a:buFont typeface="Arial"/>
              <a:buChar char="•"/>
            </a:pPr>
            <a:r>
              <a:rPr lang="en-US" b="true" sz="3000" i="true">
                <a:solidFill>
                  <a:srgbClr val="000000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CONNECTIONS</a:t>
            </a:r>
          </a:p>
          <a:p>
            <a:pPr algn="l" marL="647805" indent="-323903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NRST PIN → RESET BUTTON</a:t>
            </a:r>
          </a:p>
          <a:p>
            <a:pPr algn="l" marL="647805" indent="-323903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R1 (10 KΩ) → NRST TO 3.3 V</a:t>
            </a:r>
          </a:p>
          <a:p>
            <a:pPr algn="l" marL="647805" indent="-323903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RESET BUTTON → GND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749135" y="1512813"/>
            <a:ext cx="9331643" cy="31908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805" indent="-323903" lvl="1">
              <a:lnSpc>
                <a:spcPts val="4200"/>
              </a:lnSpc>
              <a:buFont typeface="Arial"/>
              <a:buChar char="•"/>
            </a:pPr>
            <a:r>
              <a:rPr lang="en-US" b="true" sz="3000" i="true">
                <a:solidFill>
                  <a:srgbClr val="000000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BOOT CIRCUIT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COMPONENTS USED</a:t>
            </a:r>
          </a:p>
          <a:p>
            <a:pPr algn="l" marL="647805" indent="-323903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10 KΩ PULL-DOWN RESISTOR (BOOT0)</a:t>
            </a:r>
          </a:p>
          <a:p>
            <a:pPr algn="l" marL="647805" indent="-323903" lvl="1">
              <a:lnSpc>
                <a:spcPts val="4200"/>
              </a:lnSpc>
              <a:buFont typeface="Arial"/>
              <a:buChar char="•"/>
            </a:pPr>
            <a:r>
              <a:rPr lang="en-US" b="true" sz="3000" i="true">
                <a:solidFill>
                  <a:srgbClr val="000000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PURPOSE</a:t>
            </a:r>
          </a:p>
          <a:p>
            <a:pPr algn="l" marL="647805" indent="-323903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SELECTS THE BOOT MODE</a:t>
            </a:r>
          </a:p>
          <a:p>
            <a:pPr algn="l" marL="647805" indent="-323903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ENSURES BOOT FROM INTERNAL FLASH MEMORY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Object 2" id="2"/>
          <p:cNvGraphicFramePr/>
          <p:nvPr/>
        </p:nvGraphicFramePr>
        <p:xfrm>
          <a:off x="17936" y="4482281"/>
          <a:ext cx="3771900" cy="3771900"/>
        </p:xfrm>
        <a:graphic>
          <a:graphicData uri="http://schemas.openxmlformats.org/presentationml/2006/ole">
            <p:oleObj imgW="4521200" imgH="45212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3" id="3"/>
          <p:cNvSpPr txBox="true"/>
          <p:nvPr/>
        </p:nvSpPr>
        <p:spPr>
          <a:xfrm rot="0">
            <a:off x="1226681" y="122135"/>
            <a:ext cx="13796328" cy="1203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800"/>
              </a:lnSpc>
              <a:spcBef>
                <a:spcPct val="0"/>
              </a:spcBef>
            </a:pPr>
            <a:r>
              <a:rPr lang="en-US" b="true" sz="700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SWD PROGRAMMING INTERFACE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-297434" y="962025"/>
            <a:ext cx="4752975" cy="26574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805" indent="-323903" lvl="1">
              <a:lnSpc>
                <a:spcPts val="4200"/>
              </a:lnSpc>
              <a:buFont typeface="Arial"/>
              <a:buChar char="•"/>
            </a:pPr>
            <a:r>
              <a:rPr lang="en-US" b="true" sz="3000" i="true">
                <a:solidFill>
                  <a:srgbClr val="000000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PURPOSE</a:t>
            </a:r>
          </a:p>
          <a:p>
            <a:pPr algn="l" marL="647805" indent="-323903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PROGRAM STM32</a:t>
            </a:r>
          </a:p>
          <a:p>
            <a:pPr algn="l" marL="647805" indent="-323903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DEBUG FIRMWARE</a:t>
            </a:r>
          </a:p>
          <a:p>
            <a:pPr algn="l" marL="647805" indent="-323903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FLASH BOOTLOADER</a:t>
            </a:r>
          </a:p>
          <a:p>
            <a:pPr algn="l" marL="647805" indent="-323903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REAL-TIME DEBUGGING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29" y="3774904"/>
            <a:ext cx="1520984" cy="4978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60"/>
              </a:lnSpc>
              <a:spcBef>
                <a:spcPct val="0"/>
              </a:spcBef>
            </a:pPr>
            <a:r>
              <a:rPr lang="en-US" b="true" sz="2900" i="true">
                <a:solidFill>
                  <a:srgbClr val="000000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SIGNALS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836654" y="1258775"/>
            <a:ext cx="5377021" cy="42576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805" indent="-323903" lvl="1">
              <a:lnSpc>
                <a:spcPts val="4200"/>
              </a:lnSpc>
              <a:buFont typeface="Arial"/>
              <a:buChar char="•"/>
            </a:pPr>
            <a:r>
              <a:rPr lang="en-US" b="true" sz="3000" i="true">
                <a:solidFill>
                  <a:srgbClr val="000000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PROGRAMMER</a:t>
            </a:r>
          </a:p>
          <a:p>
            <a:pPr algn="l" marL="647805" indent="-323903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ST-LINK V2</a:t>
            </a:r>
          </a:p>
          <a:p>
            <a:pPr algn="l" marL="647805" indent="-323903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STM32CUBEPROGRAMMER</a:t>
            </a:r>
          </a:p>
          <a:p>
            <a:pPr algn="l" marL="647805" indent="-323903" lvl="1">
              <a:lnSpc>
                <a:spcPts val="4200"/>
              </a:lnSpc>
              <a:buFont typeface="Arial"/>
              <a:buChar char="•"/>
            </a:pPr>
            <a:r>
              <a:rPr lang="en-US" b="true" sz="3000" i="true">
                <a:solidFill>
                  <a:srgbClr val="000000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ADVANTAGES</a:t>
            </a:r>
          </a:p>
          <a:p>
            <a:pPr algn="l" marL="647805" indent="-323903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FAST PROGRAMMING</a:t>
            </a:r>
          </a:p>
          <a:p>
            <a:pPr algn="l" marL="647805" indent="-323903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REAL-TIME DEBUGGING</a:t>
            </a:r>
          </a:p>
          <a:p>
            <a:pPr algn="l" marL="647805" indent="-323903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BREAKPOINTS</a:t>
            </a:r>
          </a:p>
          <a:p>
            <a:pPr algn="l" marL="647805" indent="-323903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REGISTER MONITORING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Object 2" id="2"/>
          <p:cNvGraphicFramePr/>
          <p:nvPr/>
        </p:nvGraphicFramePr>
        <p:xfrm>
          <a:off x="-96688" y="6214605"/>
          <a:ext cx="3771900" cy="3143250"/>
        </p:xfrm>
        <a:graphic>
          <a:graphicData uri="http://schemas.openxmlformats.org/presentationml/2006/ole">
            <p:oleObj imgW="4521200" imgH="38862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3" id="3"/>
          <p:cNvSpPr txBox="true"/>
          <p:nvPr/>
        </p:nvSpPr>
        <p:spPr>
          <a:xfrm rot="0">
            <a:off x="2651830" y="96319"/>
            <a:ext cx="9799479" cy="1177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60"/>
              </a:lnSpc>
              <a:spcBef>
                <a:spcPct val="0"/>
              </a:spcBef>
            </a:pPr>
            <a:r>
              <a:rPr lang="en-US" b="true" sz="690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USB TYPE-C INTERFACE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-96688" y="962025"/>
            <a:ext cx="7648258" cy="47910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805" indent="-323903" lvl="1">
              <a:lnSpc>
                <a:spcPts val="4200"/>
              </a:lnSpc>
              <a:buFont typeface="Arial"/>
              <a:buChar char="•"/>
            </a:pPr>
            <a:r>
              <a:rPr lang="en-US" b="true" sz="3000" i="true">
                <a:solidFill>
                  <a:srgbClr val="000000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PURPOSE</a:t>
            </a:r>
          </a:p>
          <a:p>
            <a:pPr algn="l" marL="647805" indent="-323903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FIRMWARE UPLOAD</a:t>
            </a:r>
          </a:p>
          <a:p>
            <a:pPr algn="l" marL="647805" indent="-323903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SERIAL COMMUNICATION</a:t>
            </a:r>
          </a:p>
          <a:p>
            <a:pPr algn="l" marL="647805" indent="-323903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BOARD POWER DURING PROGRAMMING</a:t>
            </a:r>
          </a:p>
          <a:p>
            <a:pPr algn="l" marL="647805" indent="-323903" lvl="1">
              <a:lnSpc>
                <a:spcPts val="4200"/>
              </a:lnSpc>
              <a:buFont typeface="Arial"/>
              <a:buChar char="•"/>
            </a:pPr>
            <a:r>
              <a:rPr lang="en-US" b="true" sz="3000" i="true">
                <a:solidFill>
                  <a:srgbClr val="000000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MAIN COMPONENTS</a:t>
            </a:r>
          </a:p>
          <a:p>
            <a:pPr algn="l" marL="647805" indent="-323903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USB TYPE-C CONNECTOR</a:t>
            </a:r>
          </a:p>
          <a:p>
            <a:pPr algn="l" marL="647805" indent="-323903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CC1 &amp; CC2 RESISTORS (5.1 KΩ)</a:t>
            </a:r>
          </a:p>
          <a:p>
            <a:pPr algn="l" marL="647805" indent="-323903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USB_DP</a:t>
            </a:r>
          </a:p>
          <a:p>
            <a:pPr algn="l" marL="647805" indent="-323903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USB_DM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4212" y="5937116"/>
            <a:ext cx="2895124" cy="4978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60"/>
              </a:lnSpc>
              <a:spcBef>
                <a:spcPct val="0"/>
              </a:spcBef>
            </a:pPr>
            <a:r>
              <a:rPr lang="en-US" b="true" sz="2900" i="true">
                <a:solidFill>
                  <a:srgbClr val="000000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SPECIFICATIONS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474741" y="1216449"/>
            <a:ext cx="2230279" cy="5213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40"/>
              </a:lnSpc>
              <a:spcBef>
                <a:spcPct val="0"/>
              </a:spcBef>
            </a:pPr>
            <a:r>
              <a:rPr lang="en-US" b="true" sz="310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FUNCTIONS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842786" y="1206924"/>
            <a:ext cx="5138579" cy="26574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</a:p>
          <a:p>
            <a:pPr algn="l" marL="647805" indent="-323903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FIRMWARE UPLOAD</a:t>
            </a:r>
          </a:p>
          <a:p>
            <a:pPr algn="l" marL="647805" indent="-323903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USB COMMUNICATION</a:t>
            </a:r>
          </a:p>
          <a:p>
            <a:pPr algn="l" marL="647805" indent="-323903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FUTURE CONFIGURATION</a:t>
            </a:r>
          </a:p>
          <a:p>
            <a:pPr algn="l" marL="647805" indent="-323903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DEBUG LOGGING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51279" y="546903"/>
            <a:ext cx="18538118" cy="9851090"/>
          </a:xfrm>
          <a:custGeom>
            <a:avLst/>
            <a:gdLst/>
            <a:ahLst/>
            <a:cxnLst/>
            <a:rect r="r" b="b" t="t" l="l"/>
            <a:pathLst>
              <a:path h="9851090" w="18538118">
                <a:moveTo>
                  <a:pt x="0" y="0"/>
                </a:moveTo>
                <a:lnTo>
                  <a:pt x="18538119" y="0"/>
                </a:lnTo>
                <a:lnTo>
                  <a:pt x="18538119" y="9851090"/>
                </a:lnTo>
                <a:lnTo>
                  <a:pt x="0" y="98510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Object 2" id="2"/>
          <p:cNvGraphicFramePr/>
          <p:nvPr/>
        </p:nvGraphicFramePr>
        <p:xfrm>
          <a:off x="346903" y="5959567"/>
          <a:ext cx="3771900" cy="3771900"/>
        </p:xfrm>
        <a:graphic>
          <a:graphicData uri="http://schemas.openxmlformats.org/presentationml/2006/ole">
            <p:oleObj imgW="4521200" imgH="45212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graphicFrame>
        <p:nvGraphicFramePr>
          <p:cNvPr name="Object 3" id="3"/>
          <p:cNvGraphicFramePr/>
          <p:nvPr/>
        </p:nvGraphicFramePr>
        <p:xfrm>
          <a:off x="8099878" y="1028700"/>
          <a:ext cx="3771900" cy="5029200"/>
        </p:xfrm>
        <a:graphic>
          <a:graphicData uri="http://schemas.openxmlformats.org/presentationml/2006/ole">
            <p:oleObj imgW="4775200" imgH="6032500" r:id="rId5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graphicFrame>
        <p:nvGraphicFramePr>
          <p:cNvPr name="Object 4" id="4"/>
          <p:cNvGraphicFramePr/>
          <p:nvPr/>
        </p:nvGraphicFramePr>
        <p:xfrm>
          <a:off x="13309285" y="1745461"/>
          <a:ext cx="3771900" cy="6286500"/>
        </p:xfrm>
        <a:graphic>
          <a:graphicData uri="http://schemas.openxmlformats.org/presentationml/2006/ole">
            <p:oleObj imgW="5029200" imgH="7543800" r:id="rId7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6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5" id="5"/>
          <p:cNvSpPr txBox="true"/>
          <p:nvPr/>
        </p:nvSpPr>
        <p:spPr>
          <a:xfrm rot="0">
            <a:off x="14922" y="99811"/>
            <a:ext cx="18258155" cy="1193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9"/>
              </a:lnSpc>
              <a:spcBef>
                <a:spcPct val="0"/>
              </a:spcBef>
            </a:pPr>
            <a:r>
              <a:rPr lang="en-US" b="true" sz="6999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ICM42688-P INERTIAL MEASUREMENT UNIT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-219611" y="1236461"/>
            <a:ext cx="4979511" cy="42659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69395" indent="-334697" lvl="1">
              <a:lnSpc>
                <a:spcPts val="4340"/>
              </a:lnSpc>
              <a:buFont typeface="Arial"/>
              <a:buChar char="•"/>
            </a:pPr>
            <a:r>
              <a:rPr lang="en-US" b="true" sz="3100" i="true">
                <a:solidFill>
                  <a:srgbClr val="000000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PURPOSE</a:t>
            </a:r>
          </a:p>
          <a:p>
            <a:pPr algn="l" marL="647805" indent="-323903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MEASURES MOTION</a:t>
            </a:r>
          </a:p>
          <a:p>
            <a:pPr algn="l" marL="647805" indent="-323903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MEASURES ROTATION</a:t>
            </a:r>
          </a:p>
          <a:p>
            <a:pPr algn="l" marL="647805" indent="-323903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DRONE STABILIZATION</a:t>
            </a:r>
          </a:p>
          <a:p>
            <a:pPr algn="l" marL="647805" indent="-323903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FLIGHT NAVIGATION</a:t>
            </a:r>
          </a:p>
          <a:p>
            <a:pPr algn="l" marL="669395" indent="-334697" lvl="1">
              <a:lnSpc>
                <a:spcPts val="4340"/>
              </a:lnSpc>
              <a:buFont typeface="Arial"/>
              <a:buChar char="•"/>
            </a:pPr>
            <a:r>
              <a:rPr lang="en-US" b="true" sz="3100" i="true">
                <a:solidFill>
                  <a:srgbClr val="000000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SENSOR TYPE</a:t>
            </a:r>
          </a:p>
          <a:p>
            <a:pPr algn="l" marL="647805" indent="-323903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3-AXIS ACCELEROMETER</a:t>
            </a:r>
          </a:p>
          <a:p>
            <a:pPr algn="l" marL="647805" indent="-323903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3-AXIS GYROSCOPE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72656" y="5435704"/>
            <a:ext cx="2994978" cy="5238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 i="true">
                <a:solidFill>
                  <a:srgbClr val="000000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SPECIFICATIONS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205839" y="1153793"/>
            <a:ext cx="2716848" cy="5238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 i="true">
                <a:solidFill>
                  <a:srgbClr val="000000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CONNECTIONS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838627" y="7795032"/>
            <a:ext cx="5773738" cy="15906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805" indent="-323903" lvl="1">
              <a:lnSpc>
                <a:spcPts val="4200"/>
              </a:lnSpc>
              <a:buFont typeface="Arial"/>
              <a:buChar char="•"/>
            </a:pPr>
            <a:r>
              <a:rPr lang="en-US" b="true" sz="3000" i="true">
                <a:solidFill>
                  <a:srgbClr val="000000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SUPPORTING COMPONENTS</a:t>
            </a:r>
          </a:p>
          <a:p>
            <a:pPr algn="l" marL="647805" indent="-323903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100 NF CAPACITOR</a:t>
            </a:r>
          </a:p>
          <a:p>
            <a:pPr algn="l" marL="647805" indent="-323903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2.2 ΜF CAPACITOR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117653" y="1163318"/>
            <a:ext cx="5100638" cy="4978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60"/>
              </a:lnSpc>
              <a:spcBef>
                <a:spcPct val="0"/>
              </a:spcBef>
            </a:pPr>
            <a:r>
              <a:rPr lang="en-US" b="true" sz="2900" i="true">
                <a:solidFill>
                  <a:srgbClr val="000000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FEATURES FROM DATASHEET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94364" y="1270564"/>
            <a:ext cx="18617936" cy="8206430"/>
          </a:xfrm>
          <a:custGeom>
            <a:avLst/>
            <a:gdLst/>
            <a:ahLst/>
            <a:cxnLst/>
            <a:rect r="r" b="b" t="t" l="l"/>
            <a:pathLst>
              <a:path h="8206430" w="18617936">
                <a:moveTo>
                  <a:pt x="0" y="0"/>
                </a:moveTo>
                <a:lnTo>
                  <a:pt x="18617935" y="0"/>
                </a:lnTo>
                <a:lnTo>
                  <a:pt x="18617935" y="8206430"/>
                </a:lnTo>
                <a:lnTo>
                  <a:pt x="0" y="820643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596" t="0" r="-22596" b="0"/>
            </a:stretch>
          </a:blipFill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Object 2" id="2"/>
          <p:cNvGraphicFramePr/>
          <p:nvPr/>
        </p:nvGraphicFramePr>
        <p:xfrm>
          <a:off x="30639" y="5257800"/>
          <a:ext cx="3771900" cy="5029200"/>
        </p:xfrm>
        <a:graphic>
          <a:graphicData uri="http://schemas.openxmlformats.org/presentationml/2006/ole">
            <p:oleObj imgW="4775200" imgH="60325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graphicFrame>
        <p:nvGraphicFramePr>
          <p:cNvPr name="Object 3" id="3"/>
          <p:cNvGraphicFramePr/>
          <p:nvPr/>
        </p:nvGraphicFramePr>
        <p:xfrm>
          <a:off x="14516100" y="2228844"/>
          <a:ext cx="3771900" cy="6286500"/>
        </p:xfrm>
        <a:graphic>
          <a:graphicData uri="http://schemas.openxmlformats.org/presentationml/2006/ole">
            <p:oleObj imgW="5029200" imgH="7543800" r:id="rId5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4" id="4"/>
          <p:cNvSpPr txBox="true"/>
          <p:nvPr/>
        </p:nvSpPr>
        <p:spPr>
          <a:xfrm rot="0">
            <a:off x="7620" y="418148"/>
            <a:ext cx="18280380" cy="1087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820"/>
              </a:lnSpc>
              <a:spcBef>
                <a:spcPct val="0"/>
              </a:spcBef>
            </a:pPr>
            <a:r>
              <a:rPr lang="en-US" b="true" sz="630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SX1280 RF TRANSCEIVER (EXPRESSLRS 2.4 GHZ)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620" y="1419237"/>
            <a:ext cx="12268358" cy="37242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b="true" sz="3000" i="true">
                <a:solidFill>
                  <a:srgbClr val="000000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PURPOSE</a:t>
            </a:r>
          </a:p>
          <a:p>
            <a:pPr algn="l" marL="647805" indent="-323903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WIRELESS COMMUNICATION BETWEEN DRONE AND TRANSMITTER</a:t>
            </a:r>
          </a:p>
          <a:p>
            <a:pPr algn="l" marL="647805" indent="-323903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RECEIVES CONTROL COMMANDS</a:t>
            </a:r>
          </a:p>
          <a:p>
            <a:pPr algn="l" marL="647805" indent="-323903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SENDS TELEMETRY DATA</a:t>
            </a:r>
          </a:p>
          <a:p>
            <a:pPr algn="l" marL="647805" indent="-323903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SUPPORTS EXPRESSLRS PROTOCOL</a:t>
            </a:r>
          </a:p>
          <a:p>
            <a:pPr algn="l">
              <a:lnSpc>
                <a:spcPts val="4200"/>
              </a:lnSpc>
            </a:pPr>
            <a:r>
              <a:rPr lang="en-US" b="true" sz="3000" i="true">
                <a:solidFill>
                  <a:srgbClr val="000000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COMPONENT</a:t>
            </a:r>
          </a:p>
          <a:p>
            <a:pPr algn="l" marL="647805" indent="-323903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SX1280IMLTRT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0" y="5076825"/>
            <a:ext cx="3802539" cy="5238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 i="true">
                <a:solidFill>
                  <a:srgbClr val="000000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KEY SPECIFICATIONS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813860" y="1663371"/>
            <a:ext cx="4036695" cy="5238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 i="true">
                <a:solidFill>
                  <a:srgbClr val="000000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STM32 CONNECTIONS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530711" y="5757924"/>
            <a:ext cx="6243003" cy="26574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b="true" sz="3000" i="true">
                <a:solidFill>
                  <a:srgbClr val="000000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FUNCTIONS</a:t>
            </a:r>
          </a:p>
          <a:p>
            <a:pPr algn="l" marL="647805" indent="-323903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RECEIVES RC COMMANDS</a:t>
            </a:r>
          </a:p>
          <a:p>
            <a:pPr algn="l" marL="647805" indent="-323903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SENDS TELEMETRY</a:t>
            </a:r>
          </a:p>
          <a:p>
            <a:pPr algn="l" marL="647805" indent="-323903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SPI COMMUNICATION</a:t>
            </a:r>
          </a:p>
          <a:p>
            <a:pPr algn="l" marL="647805" indent="-323903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LONG RANGE COMMUNICATION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89854" y="1028700"/>
            <a:ext cx="17677595" cy="9018067"/>
          </a:xfrm>
          <a:custGeom>
            <a:avLst/>
            <a:gdLst/>
            <a:ahLst/>
            <a:cxnLst/>
            <a:rect r="r" b="b" t="t" l="l"/>
            <a:pathLst>
              <a:path h="9018067" w="17677595">
                <a:moveTo>
                  <a:pt x="0" y="0"/>
                </a:moveTo>
                <a:lnTo>
                  <a:pt x="17677595" y="0"/>
                </a:lnTo>
                <a:lnTo>
                  <a:pt x="17677595" y="9018067"/>
                </a:lnTo>
                <a:lnTo>
                  <a:pt x="0" y="90180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406" t="0" r="-2406" b="0"/>
            </a:stretch>
          </a:blipFill>
        </p:spPr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43089" y="-133350"/>
            <a:ext cx="15664180" cy="1193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9"/>
              </a:lnSpc>
              <a:spcBef>
                <a:spcPct val="0"/>
              </a:spcBef>
            </a:pPr>
            <a:r>
              <a:rPr lang="en-US" b="true" sz="6999" i="true">
                <a:solidFill>
                  <a:srgbClr val="000000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RF MATCHING NETWORK &amp; ANTENNA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775143" y="1228737"/>
            <a:ext cx="7368857" cy="90582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b="true" sz="3000" i="true">
                <a:solidFill>
                  <a:srgbClr val="000000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PURPOSE</a:t>
            </a:r>
          </a:p>
          <a:p>
            <a:pPr algn="l" marL="647805" indent="-323903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MATCHES ANTENNA IMPEDANCE</a:t>
            </a:r>
          </a:p>
          <a:p>
            <a:pPr algn="l" marL="647805" indent="-323903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MAXIMIZES RF POWER TRANSFER</a:t>
            </a:r>
          </a:p>
          <a:p>
            <a:pPr algn="l" marL="647805" indent="-323903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REDUCES REFLECTED POWER</a:t>
            </a:r>
          </a:p>
          <a:p>
            <a:pPr algn="l" marL="647805" indent="-323903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IMPROVES COMMUNICATION RANGE</a:t>
            </a:r>
          </a:p>
          <a:p>
            <a:pPr algn="l">
              <a:lnSpc>
                <a:spcPts val="4200"/>
              </a:lnSpc>
            </a:pPr>
            <a:r>
              <a:rPr lang="en-US" b="true" sz="3000" i="true">
                <a:solidFill>
                  <a:srgbClr val="000000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COMPONENTS</a:t>
            </a:r>
          </a:p>
          <a:p>
            <a:pPr algn="l" marL="647805" indent="-323903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INDUCTOR</a:t>
            </a:r>
          </a:p>
          <a:p>
            <a:pPr algn="l" marL="647805" indent="-323903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MATCHING CAPACITORS</a:t>
            </a:r>
          </a:p>
          <a:p>
            <a:pPr algn="l" marL="647805" indent="-323903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2.4 GHZ ANTENNA</a:t>
            </a:r>
          </a:p>
          <a:p>
            <a:pPr algn="l">
              <a:lnSpc>
                <a:spcPts val="4200"/>
              </a:lnSpc>
            </a:pPr>
            <a:r>
              <a:rPr lang="en-US" b="true" sz="3000" i="true">
                <a:solidFill>
                  <a:srgbClr val="000000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IMPEDANCE</a:t>
            </a:r>
          </a:p>
          <a:p>
            <a:pPr algn="l" marL="647805" indent="-323903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RF OUTPUT = 50 Ω</a:t>
            </a:r>
          </a:p>
          <a:p>
            <a:pPr algn="l" marL="647805" indent="-323903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ANTENNA = 50 Ω</a:t>
            </a:r>
          </a:p>
          <a:p>
            <a:pPr algn="l">
              <a:lnSpc>
                <a:spcPts val="4200"/>
              </a:lnSpc>
            </a:pPr>
            <a:r>
              <a:rPr lang="en-US" b="true" sz="3000" i="true">
                <a:solidFill>
                  <a:srgbClr val="000000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BENEFITS</a:t>
            </a:r>
          </a:p>
          <a:p>
            <a:pPr algn="l" marL="647805" indent="-323903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MAXIMUM TRANSMISSION EFFICIENCY</a:t>
            </a:r>
          </a:p>
          <a:p>
            <a:pPr algn="l" marL="647805" indent="-323903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BETTER RECEIVER SENSITIVITY</a:t>
            </a:r>
          </a:p>
          <a:p>
            <a:pPr algn="l" marL="647805" indent="-323903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LOWER SIGNAL LOSS</a:t>
            </a:r>
          </a:p>
          <a:p>
            <a:pPr algn="l" marL="647805" indent="-323903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STABLE RF PERFORMANCE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Object 2" id="2"/>
          <p:cNvGraphicFramePr/>
          <p:nvPr/>
        </p:nvGraphicFramePr>
        <p:xfrm>
          <a:off x="323650" y="5143500"/>
          <a:ext cx="3771900" cy="4400550"/>
        </p:xfrm>
        <a:graphic>
          <a:graphicData uri="http://schemas.openxmlformats.org/presentationml/2006/ole">
            <p:oleObj imgW="4648200" imgH="52705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graphicFrame>
        <p:nvGraphicFramePr>
          <p:cNvPr name="Object 3" id="3"/>
          <p:cNvGraphicFramePr/>
          <p:nvPr/>
        </p:nvGraphicFramePr>
        <p:xfrm>
          <a:off x="5907177" y="1710647"/>
          <a:ext cx="3771900" cy="4400550"/>
        </p:xfrm>
        <a:graphic>
          <a:graphicData uri="http://schemas.openxmlformats.org/presentationml/2006/ole">
            <p:oleObj imgW="4648200" imgH="5270500" r:id="rId5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4" id="4"/>
          <p:cNvSpPr txBox="true"/>
          <p:nvPr/>
        </p:nvSpPr>
        <p:spPr>
          <a:xfrm rot="0">
            <a:off x="949484" y="131660"/>
            <a:ext cx="16389032" cy="1193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9"/>
              </a:lnSpc>
              <a:spcBef>
                <a:spcPct val="0"/>
              </a:spcBef>
            </a:pPr>
            <a:r>
              <a:rPr lang="en-US" b="true" sz="6999" i="true">
                <a:solidFill>
                  <a:srgbClr val="000000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W25Q32JV EXTERNAL FLASH MEMORY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23650" y="971550"/>
            <a:ext cx="5321141" cy="36486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b="true" sz="2600" i="true">
                <a:solidFill>
                  <a:srgbClr val="000000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PURPOSE</a:t>
            </a:r>
          </a:p>
          <a:p>
            <a:pPr algn="l" marL="561447" indent="-280724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STORES CONFIGURATION DATA</a:t>
            </a:r>
          </a:p>
          <a:p>
            <a:pPr algn="l" marL="561447" indent="-280724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STORES CALIBRATION VALUES</a:t>
            </a:r>
          </a:p>
          <a:p>
            <a:pPr algn="l" marL="561447" indent="-280724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STORES LOGS</a:t>
            </a:r>
          </a:p>
          <a:p>
            <a:pPr algn="l" marL="561447" indent="-280724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SUPPORTS FUTURE </a:t>
            </a:r>
          </a:p>
          <a:p>
            <a:pPr algn="l" marL="561447" indent="-280724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FIRMWARE EXPANSION</a:t>
            </a:r>
          </a:p>
          <a:p>
            <a:pPr algn="l" marL="561447" indent="-280724" lvl="1">
              <a:lnSpc>
                <a:spcPts val="3640"/>
              </a:lnSpc>
              <a:buFont typeface="Arial"/>
              <a:buChar char="•"/>
            </a:pPr>
            <a:r>
              <a:rPr lang="en-US" b="true" sz="2600" i="true">
                <a:solidFill>
                  <a:srgbClr val="000000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COMPONENT</a:t>
            </a:r>
          </a:p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W25Q32JV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8643" y="4593442"/>
            <a:ext cx="3802539" cy="5238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 i="true">
                <a:solidFill>
                  <a:srgbClr val="000000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KEY SPECIFICATIONS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907177" y="1212820"/>
            <a:ext cx="3901916" cy="4978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60"/>
              </a:lnSpc>
              <a:spcBef>
                <a:spcPct val="0"/>
              </a:spcBef>
            </a:pPr>
            <a:r>
              <a:rPr lang="en-US" b="true" sz="2900" i="true">
                <a:solidFill>
                  <a:srgbClr val="000000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STM32 CONNECTIONS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071479" y="1339488"/>
            <a:ext cx="4780439" cy="26574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b="true" sz="3000" i="true">
                <a:solidFill>
                  <a:srgbClr val="000000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FUNCTIONS</a:t>
            </a:r>
          </a:p>
          <a:p>
            <a:pPr algn="l" marL="647805" indent="-323903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PARAMETER STORAGE</a:t>
            </a:r>
          </a:p>
          <a:p>
            <a:pPr algn="l" marL="647805" indent="-323903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CALIBRATION STORAGE</a:t>
            </a:r>
          </a:p>
          <a:p>
            <a:pPr algn="l" marL="647805" indent="-323903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FLIGHT LOGS</a:t>
            </a:r>
          </a:p>
          <a:p>
            <a:pPr algn="l" marL="647805" indent="-323903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FIRMWARE SUPPORT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50070" y="961692"/>
            <a:ext cx="17076042" cy="8258000"/>
          </a:xfrm>
          <a:custGeom>
            <a:avLst/>
            <a:gdLst/>
            <a:ahLst/>
            <a:cxnLst/>
            <a:rect r="r" b="b" t="t" l="l"/>
            <a:pathLst>
              <a:path h="8258000" w="17076042">
                <a:moveTo>
                  <a:pt x="0" y="0"/>
                </a:moveTo>
                <a:lnTo>
                  <a:pt x="17076042" y="0"/>
                </a:lnTo>
                <a:lnTo>
                  <a:pt x="17076042" y="8258000"/>
                </a:lnTo>
                <a:lnTo>
                  <a:pt x="0" y="825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1650" t="0" r="-1165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383486" y="1014500"/>
            <a:ext cx="21054971" cy="8258000"/>
          </a:xfrm>
          <a:custGeom>
            <a:avLst/>
            <a:gdLst/>
            <a:ahLst/>
            <a:cxnLst/>
            <a:rect r="r" b="b" t="t" l="l"/>
            <a:pathLst>
              <a:path h="8258000" w="21054971">
                <a:moveTo>
                  <a:pt x="0" y="0"/>
                </a:moveTo>
                <a:lnTo>
                  <a:pt x="21054972" y="0"/>
                </a:lnTo>
                <a:lnTo>
                  <a:pt x="21054972" y="8258000"/>
                </a:lnTo>
                <a:lnTo>
                  <a:pt x="0" y="825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Object 2" id="2"/>
          <p:cNvGraphicFramePr/>
          <p:nvPr/>
        </p:nvGraphicFramePr>
        <p:xfrm>
          <a:off x="315054" y="4366039"/>
          <a:ext cx="3771900" cy="5029200"/>
        </p:xfrm>
        <a:graphic>
          <a:graphicData uri="http://schemas.openxmlformats.org/presentationml/2006/ole">
            <p:oleObj imgW="4775200" imgH="60325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graphicFrame>
        <p:nvGraphicFramePr>
          <p:cNvPr name="Object 3" id="3"/>
          <p:cNvGraphicFramePr/>
          <p:nvPr/>
        </p:nvGraphicFramePr>
        <p:xfrm>
          <a:off x="12692983" y="2898893"/>
          <a:ext cx="3771900" cy="2514600"/>
        </p:xfrm>
        <a:graphic>
          <a:graphicData uri="http://schemas.openxmlformats.org/presentationml/2006/ole">
            <p:oleObj imgW="4521200" imgH="3263900" r:id="rId5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4" id="4"/>
          <p:cNvSpPr txBox="true"/>
          <p:nvPr/>
        </p:nvSpPr>
        <p:spPr>
          <a:xfrm rot="0">
            <a:off x="1654492" y="-114300"/>
            <a:ext cx="14205268" cy="9713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87"/>
              </a:lnSpc>
              <a:spcBef>
                <a:spcPct val="0"/>
              </a:spcBef>
            </a:pPr>
            <a:r>
              <a:rPr lang="en-US" b="true" sz="5633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STM32G071GBU6 –  MOTOR CONTROLLER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54789" y="768033"/>
            <a:ext cx="7516654" cy="30695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6216" indent="-313108" lvl="1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DEDICATED MCU FOR MOTOR 2 ESC</a:t>
            </a:r>
          </a:p>
          <a:p>
            <a:pPr algn="l" marL="626216" indent="-313108" lvl="1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GENERATES SIX PWM GATE SIGNALS</a:t>
            </a:r>
          </a:p>
          <a:p>
            <a:pPr algn="l" marL="626216" indent="-313108" lvl="1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ARM CORTEX-M0+ (64 MHZ)</a:t>
            </a:r>
          </a:p>
          <a:p>
            <a:pPr algn="l" marL="626216" indent="-313108" lvl="1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SWD PROGRAMMING INTERFACE</a:t>
            </a:r>
          </a:p>
          <a:p>
            <a:pPr algn="l" marL="626216" indent="-313108" lvl="1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RESET CIRCUIT WITH PULL-UP RESISTOR</a:t>
            </a:r>
          </a:p>
          <a:p>
            <a:pPr algn="l" marL="626216" indent="-313108" lvl="1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LOCAL POWER DECOUPLING CAPACITOR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39818" y="3842176"/>
            <a:ext cx="2994978" cy="5238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 i="true">
                <a:solidFill>
                  <a:srgbClr val="000000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SPECIFICATIONS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201861" y="4227312"/>
            <a:ext cx="4391819" cy="26574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805" indent="-323903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SUPPLY VOLTAGE</a:t>
            </a:r>
          </a:p>
          <a:p>
            <a:pPr algn="l" marL="647805" indent="-323903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OPERATING VOLTAGE</a:t>
            </a:r>
          </a:p>
          <a:p>
            <a:pPr algn="l" marL="647805" indent="-323903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2.0–3.6 V</a:t>
            </a:r>
          </a:p>
          <a:p>
            <a:pPr algn="l" marL="647805" indent="-323903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USED VOLTAGE</a:t>
            </a:r>
          </a:p>
          <a:p>
            <a:pPr algn="l" marL="647805" indent="-323903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3.3 V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242821" y="2264721"/>
            <a:ext cx="4645343" cy="5238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 i="true">
                <a:solidFill>
                  <a:srgbClr val="000000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CURRENT CONSUMPTION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608231" y="7134237"/>
            <a:ext cx="6291739" cy="21240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805" indent="-323903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ACTUAL CURRENT DEPENDS ON</a:t>
            </a:r>
          </a:p>
          <a:p>
            <a:pPr algn="l" marL="647805" indent="-323903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PWM FREQUENCY</a:t>
            </a:r>
          </a:p>
          <a:p>
            <a:pPr algn="l" marL="647805" indent="-323903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CPU LOAD</a:t>
            </a:r>
          </a:p>
          <a:p>
            <a:pPr algn="l" marL="647805" indent="-323903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PERIPHERAL USAGE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34667" y="851164"/>
            <a:ext cx="16122149" cy="8640131"/>
          </a:xfrm>
          <a:custGeom>
            <a:avLst/>
            <a:gdLst/>
            <a:ahLst/>
            <a:cxnLst/>
            <a:rect r="r" b="b" t="t" l="l"/>
            <a:pathLst>
              <a:path h="8640131" w="16122149">
                <a:moveTo>
                  <a:pt x="0" y="0"/>
                </a:moveTo>
                <a:lnTo>
                  <a:pt x="16122149" y="0"/>
                </a:lnTo>
                <a:lnTo>
                  <a:pt x="16122149" y="8640131"/>
                </a:lnTo>
                <a:lnTo>
                  <a:pt x="0" y="864013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67817" y="231210"/>
            <a:ext cx="16158310" cy="9476191"/>
          </a:xfrm>
          <a:custGeom>
            <a:avLst/>
            <a:gdLst/>
            <a:ahLst/>
            <a:cxnLst/>
            <a:rect r="r" b="b" t="t" l="l"/>
            <a:pathLst>
              <a:path h="9476191" w="16158310">
                <a:moveTo>
                  <a:pt x="0" y="0"/>
                </a:moveTo>
                <a:lnTo>
                  <a:pt x="16158310" y="0"/>
                </a:lnTo>
                <a:lnTo>
                  <a:pt x="16158310" y="9476191"/>
                </a:lnTo>
                <a:lnTo>
                  <a:pt x="0" y="947619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Object 2" id="2"/>
          <p:cNvGraphicFramePr/>
          <p:nvPr/>
        </p:nvGraphicFramePr>
        <p:xfrm>
          <a:off x="378751" y="5355397"/>
          <a:ext cx="3771900" cy="3143250"/>
        </p:xfrm>
        <a:graphic>
          <a:graphicData uri="http://schemas.openxmlformats.org/presentationml/2006/ole">
            <p:oleObj imgW="4521200" imgH="38862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3" id="3"/>
          <p:cNvSpPr txBox="true"/>
          <p:nvPr/>
        </p:nvSpPr>
        <p:spPr>
          <a:xfrm rot="0">
            <a:off x="1372719" y="258766"/>
            <a:ext cx="14778196" cy="1377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00"/>
              </a:lnSpc>
              <a:spcBef>
                <a:spcPct val="0"/>
              </a:spcBef>
            </a:pPr>
            <a:r>
              <a:rPr lang="en-US" b="true" sz="800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 GATE DRIVER &amp; POWER STAGE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0" y="1579559"/>
            <a:ext cx="8072279" cy="2957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626" indent="-302313" lvl="1">
              <a:lnSpc>
                <a:spcPts val="3920"/>
              </a:lnSpc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FD6288Q THREE-PHASE GATE DRIVER</a:t>
            </a:r>
          </a:p>
          <a:p>
            <a:pPr algn="l" marL="604626" indent="-302313" lvl="1">
              <a:lnSpc>
                <a:spcPts val="3920"/>
              </a:lnSpc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SIX AON7524 MOSFETS (3 HALF BRIDGES)</a:t>
            </a:r>
          </a:p>
          <a:p>
            <a:pPr algn="l" marL="604626" indent="-302313" lvl="1">
              <a:lnSpc>
                <a:spcPts val="3920"/>
              </a:lnSpc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BOOTSTRAP CIRCUIT FOR HIGH-SIDE DRIVING</a:t>
            </a:r>
          </a:p>
          <a:p>
            <a:pPr algn="l" marL="604626" indent="-302313" lvl="1">
              <a:lnSpc>
                <a:spcPts val="3920"/>
              </a:lnSpc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GATE RESISTORS FOR MOSFET PROTECTION</a:t>
            </a:r>
          </a:p>
          <a:p>
            <a:pPr algn="l" marL="604626" indent="-302313" lvl="1">
              <a:lnSpc>
                <a:spcPts val="3920"/>
              </a:lnSpc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THREE-PHASE MOTOR OUTPUT</a:t>
            </a:r>
          </a:p>
          <a:p>
            <a:pPr algn="l" marL="604626" indent="-302313" lvl="1">
              <a:lnSpc>
                <a:spcPts val="3920"/>
              </a:lnSpc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POWERED DIRECTLY FROM VBAT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22799" y="4752685"/>
            <a:ext cx="3119438" cy="5238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 i="true">
                <a:solidFill>
                  <a:srgbClr val="000000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SUPPLY VOLTAGE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83486" y="414810"/>
            <a:ext cx="16713272" cy="9567430"/>
          </a:xfrm>
          <a:custGeom>
            <a:avLst/>
            <a:gdLst/>
            <a:ahLst/>
            <a:cxnLst/>
            <a:rect r="r" b="b" t="t" l="l"/>
            <a:pathLst>
              <a:path h="9567430" w="16713272">
                <a:moveTo>
                  <a:pt x="0" y="0"/>
                </a:moveTo>
                <a:lnTo>
                  <a:pt x="16713273" y="0"/>
                </a:lnTo>
                <a:lnTo>
                  <a:pt x="16713273" y="9567430"/>
                </a:lnTo>
                <a:lnTo>
                  <a:pt x="0" y="956743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31805" y="67031"/>
            <a:ext cx="16130186" cy="10219969"/>
          </a:xfrm>
          <a:custGeom>
            <a:avLst/>
            <a:gdLst/>
            <a:ahLst/>
            <a:cxnLst/>
            <a:rect r="r" b="b" t="t" l="l"/>
            <a:pathLst>
              <a:path h="10219969" w="16130186">
                <a:moveTo>
                  <a:pt x="0" y="0"/>
                </a:moveTo>
                <a:lnTo>
                  <a:pt x="16130186" y="0"/>
                </a:lnTo>
                <a:lnTo>
                  <a:pt x="16130186" y="10219969"/>
                </a:lnTo>
                <a:lnTo>
                  <a:pt x="0" y="1021996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Object 2" id="2"/>
          <p:cNvGraphicFramePr/>
          <p:nvPr/>
        </p:nvGraphicFramePr>
        <p:xfrm>
          <a:off x="0" y="3976422"/>
          <a:ext cx="3771900" cy="5029200"/>
        </p:xfrm>
        <a:graphic>
          <a:graphicData uri="http://schemas.openxmlformats.org/presentationml/2006/ole">
            <p:oleObj imgW="4775200" imgH="60325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3" id="3"/>
          <p:cNvSpPr txBox="true"/>
          <p:nvPr/>
        </p:nvSpPr>
        <p:spPr>
          <a:xfrm rot="0">
            <a:off x="28337" y="322752"/>
            <a:ext cx="18231327" cy="1160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520"/>
              </a:lnSpc>
              <a:spcBef>
                <a:spcPct val="0"/>
              </a:spcBef>
            </a:pPr>
            <a:r>
              <a:rPr lang="en-US" b="true" sz="680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CURRENT CONSUMPTION &amp; POWER BUDGET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0" y="1671397"/>
            <a:ext cx="8094504" cy="15906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b="true" sz="3000" i="true">
                <a:solidFill>
                  <a:srgbClr val="000000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P</a:t>
            </a:r>
            <a:r>
              <a:rPr lang="en-US" b="true" sz="3000" i="true">
                <a:solidFill>
                  <a:srgbClr val="000000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OWER SOURCE</a:t>
            </a:r>
          </a:p>
          <a:p>
            <a:pPr algn="l" marL="647805" indent="-323903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BATTERY: 2S LIPO (7.4–8.4 V)</a:t>
            </a:r>
          </a:p>
          <a:p>
            <a:pPr algn="l" marL="647805" indent="-323903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REGULATED 3.3 V SUPPLY USING MPM3610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8337" y="3195385"/>
            <a:ext cx="6791960" cy="5238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 i="true">
                <a:solidFill>
                  <a:srgbClr val="000000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ESTIMATED CURRENT CONSUMPTION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796623" y="2080953"/>
            <a:ext cx="6756876" cy="37242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b="true" sz="3000" i="true">
                <a:solidFill>
                  <a:srgbClr val="000000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DIGITAL SECTION TOTAL</a:t>
            </a:r>
          </a:p>
          <a:p>
            <a:pPr algn="l" marL="647805" indent="-323903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RX MODE: ≈100 MA</a:t>
            </a:r>
          </a:p>
          <a:p>
            <a:pPr algn="l" marL="647805" indent="-323903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TX MODE: ≈200 MA (PEAK)</a:t>
            </a:r>
          </a:p>
          <a:p>
            <a:pPr algn="l">
              <a:lnSpc>
                <a:spcPts val="4200"/>
              </a:lnSpc>
            </a:pPr>
            <a:r>
              <a:rPr lang="en-US" b="true" sz="3000" i="true">
                <a:solidFill>
                  <a:srgbClr val="000000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MPM3610 CAPABILITY</a:t>
            </a:r>
          </a:p>
          <a:p>
            <a:pPr algn="l" marL="647805" indent="-323903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OUTPUT VOLTAGE: 3.3 V</a:t>
            </a:r>
          </a:p>
          <a:p>
            <a:pPr algn="l" marL="647805" indent="-323903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MAXIMUM OUTPUT CURRENT: 1.2 A</a:t>
            </a:r>
          </a:p>
          <a:p>
            <a:pPr algn="l" marL="647805" indent="-323903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SAFETY MARGIN: &gt;80% AVAILABLE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63348" y="259054"/>
            <a:ext cx="14278452" cy="1193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9"/>
              </a:lnSpc>
              <a:spcBef>
                <a:spcPct val="0"/>
              </a:spcBef>
            </a:pPr>
            <a:r>
              <a:rPr lang="en-US" b="true" sz="6999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COMPLETE SYSTEM SIGNAL FLOW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22870" y="974824"/>
            <a:ext cx="17152938" cy="84413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05"/>
              </a:lnSpc>
            </a:pPr>
          </a:p>
          <a:p>
            <a:pPr algn="l" marL="1034061" indent="-517031" lvl="1">
              <a:lnSpc>
                <a:spcPts val="6705"/>
              </a:lnSpc>
              <a:buFont typeface="Arial"/>
              <a:buChar char="•"/>
            </a:pPr>
            <a:r>
              <a:rPr lang="en-US" b="true" sz="4789" i="true">
                <a:solidFill>
                  <a:srgbClr val="000000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POWER FLOW</a:t>
            </a:r>
          </a:p>
          <a:p>
            <a:pPr algn="l" marL="1034061" indent="-517031" lvl="1">
              <a:lnSpc>
                <a:spcPts val="6705"/>
              </a:lnSpc>
              <a:buFont typeface="Arial"/>
              <a:buChar char="•"/>
            </a:pPr>
            <a:r>
              <a:rPr lang="en-US" sz="4789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VBAT → BUCK CONVERTER → 3.3V LOGIC SUPPLY</a:t>
            </a:r>
          </a:p>
          <a:p>
            <a:pPr algn="l" marL="1034061" indent="-517031" lvl="1">
              <a:lnSpc>
                <a:spcPts val="6705"/>
              </a:lnSpc>
              <a:buFont typeface="Arial"/>
              <a:buChar char="•"/>
            </a:pPr>
            <a:r>
              <a:rPr lang="en-US" sz="4789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VBAT → ESC GATE DRIVERS → MOSFETS → MOTORS</a:t>
            </a:r>
          </a:p>
          <a:p>
            <a:pPr algn="l" marL="1034061" indent="-517031" lvl="1">
              <a:lnSpc>
                <a:spcPts val="6705"/>
              </a:lnSpc>
              <a:buFont typeface="Arial"/>
              <a:buChar char="•"/>
            </a:pPr>
            <a:r>
              <a:rPr lang="en-US" b="true" sz="4789" i="true">
                <a:solidFill>
                  <a:srgbClr val="000000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DATA FLOW</a:t>
            </a:r>
          </a:p>
          <a:p>
            <a:pPr algn="l" marL="1034061" indent="-517031" lvl="1">
              <a:lnSpc>
                <a:spcPts val="6705"/>
              </a:lnSpc>
              <a:buFont typeface="Arial"/>
              <a:buChar char="•"/>
            </a:pPr>
            <a:r>
              <a:rPr lang="en-US" sz="4789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IMU → STM32F411 → FLIGHT CONTROL ALGORITHM</a:t>
            </a:r>
          </a:p>
          <a:p>
            <a:pPr algn="l" marL="1034061" indent="-517031" lvl="1">
              <a:lnSpc>
                <a:spcPts val="6705"/>
              </a:lnSpc>
              <a:buFont typeface="Arial"/>
              <a:buChar char="•"/>
            </a:pPr>
            <a:r>
              <a:rPr lang="en-US" sz="4789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EXPRESSLRS → STM32F411 → CONTROL COMMANDS</a:t>
            </a:r>
          </a:p>
          <a:p>
            <a:pPr algn="l" marL="1034061" indent="-517031" lvl="1">
              <a:lnSpc>
                <a:spcPts val="6705"/>
              </a:lnSpc>
              <a:buFont typeface="Arial"/>
              <a:buChar char="•"/>
            </a:pPr>
            <a:r>
              <a:rPr lang="en-US" sz="4789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FLASH MEMORY ↔ STM32F411</a:t>
            </a:r>
          </a:p>
          <a:p>
            <a:pPr algn="l" marL="1034061" indent="-517031" lvl="1">
              <a:lnSpc>
                <a:spcPts val="6705"/>
              </a:lnSpc>
              <a:buFont typeface="Arial"/>
              <a:buChar char="•"/>
            </a:pPr>
            <a:r>
              <a:rPr lang="en-US" sz="4789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STM32F411 → STM32G071 ×2 → ESC PWM SIGNALS</a:t>
            </a:r>
          </a:p>
          <a:p>
            <a:pPr algn="l" marL="1034061" indent="-517031" lvl="1">
              <a:lnSpc>
                <a:spcPts val="6705"/>
              </a:lnSpc>
              <a:buFont typeface="Arial"/>
              <a:buChar char="•"/>
            </a:pPr>
            <a:r>
              <a:rPr lang="en-US" sz="4789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STM32G071 → GATE DRIVERS → MOSFETS → BLDC MOTORS</a:t>
            </a: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216138" y="67963"/>
            <a:ext cx="13027661" cy="1193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9"/>
              </a:lnSpc>
              <a:spcBef>
                <a:spcPct val="0"/>
              </a:spcBef>
            </a:pPr>
            <a:r>
              <a:rPr lang="en-US" b="true" sz="6999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CONCLUSION &amp; FUTURE WORK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12347" y="1195088"/>
            <a:ext cx="11895455" cy="86982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</a:pPr>
            <a:r>
              <a:rPr lang="en-US" b="true" sz="3300" i="true">
                <a:solidFill>
                  <a:srgbClr val="000000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PROJECT ACHIEVEMENTS</a:t>
            </a:r>
          </a:p>
          <a:p>
            <a:pPr algn="l" marL="712574" indent="-356287" lvl="1">
              <a:lnSpc>
                <a:spcPts val="4620"/>
              </a:lnSpc>
              <a:buFont typeface="Arial"/>
              <a:buChar char="•"/>
            </a:pPr>
            <a:r>
              <a:rPr lang="en-US" sz="33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CUSTOM 20 × 20 MM AIO FLIGHT CONTROLLER DESIGNED</a:t>
            </a:r>
          </a:p>
          <a:p>
            <a:pPr algn="l" marL="712574" indent="-356287" lvl="1">
              <a:lnSpc>
                <a:spcPts val="4620"/>
              </a:lnSpc>
              <a:buFont typeface="Arial"/>
              <a:buChar char="•"/>
            </a:pPr>
            <a:r>
              <a:rPr lang="en-US" sz="33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COMPLETE SCHEMATIC DEVELOPED</a:t>
            </a:r>
          </a:p>
          <a:p>
            <a:pPr algn="l" marL="712574" indent="-356287" lvl="1">
              <a:lnSpc>
                <a:spcPts val="4620"/>
              </a:lnSpc>
              <a:buFont typeface="Arial"/>
              <a:buChar char="•"/>
            </a:pPr>
            <a:r>
              <a:rPr lang="en-US" sz="33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COMPONENT SELECTION COMPLETED</a:t>
            </a:r>
          </a:p>
          <a:p>
            <a:pPr algn="l" marL="712574" indent="-356287" lvl="1">
              <a:lnSpc>
                <a:spcPts val="4620"/>
              </a:lnSpc>
              <a:buFont typeface="Arial"/>
              <a:buChar char="•"/>
            </a:pPr>
            <a:r>
              <a:rPr lang="en-US" sz="33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HARDWARE ARCHITECTURE VERIFIED</a:t>
            </a:r>
          </a:p>
          <a:p>
            <a:pPr algn="l" marL="712574" indent="-356287" lvl="1">
              <a:lnSpc>
                <a:spcPts val="4620"/>
              </a:lnSpc>
              <a:buFont typeface="Arial"/>
              <a:buChar char="•"/>
            </a:pPr>
            <a:r>
              <a:rPr lang="en-US" sz="33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DESIGN RULE CHECK (DRC)</a:t>
            </a:r>
          </a:p>
          <a:p>
            <a:pPr algn="l">
              <a:lnSpc>
                <a:spcPts val="4620"/>
              </a:lnSpc>
            </a:pPr>
            <a:r>
              <a:rPr lang="en-US" b="true" sz="3300" i="true">
                <a:solidFill>
                  <a:srgbClr val="000000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NEXT PHASE</a:t>
            </a:r>
          </a:p>
          <a:p>
            <a:pPr algn="l" marL="712574" indent="-356287" lvl="1">
              <a:lnSpc>
                <a:spcPts val="4620"/>
              </a:lnSpc>
              <a:buFont typeface="Arial"/>
              <a:buChar char="•"/>
            </a:pPr>
            <a:r>
              <a:rPr lang="en-US" sz="33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ADD BATTERY VOLTAGE MONITORING</a:t>
            </a:r>
          </a:p>
          <a:p>
            <a:pPr algn="l" marL="712574" indent="-356287" lvl="1">
              <a:lnSpc>
                <a:spcPts val="4620"/>
              </a:lnSpc>
              <a:buFont typeface="Arial"/>
              <a:buChar char="•"/>
            </a:pPr>
            <a:r>
              <a:rPr lang="en-US" sz="33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ADD CURRENT SENSING CIRCUIT</a:t>
            </a:r>
          </a:p>
          <a:p>
            <a:pPr algn="l" marL="712574" indent="-356287" lvl="1">
              <a:lnSpc>
                <a:spcPts val="4620"/>
              </a:lnSpc>
              <a:buFont typeface="Arial"/>
              <a:buChar char="•"/>
            </a:pPr>
            <a:r>
              <a:rPr lang="en-US" sz="33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ADD ESC TELEMETRY FEEDBACK</a:t>
            </a:r>
          </a:p>
          <a:p>
            <a:pPr algn="l" marL="712574" indent="-356287" lvl="1">
              <a:lnSpc>
                <a:spcPts val="4620"/>
              </a:lnSpc>
              <a:buFont typeface="Arial"/>
              <a:buChar char="•"/>
            </a:pPr>
            <a:r>
              <a:rPr lang="en-US" sz="33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ADD SERVO OUTPUT HEADERS</a:t>
            </a:r>
          </a:p>
          <a:p>
            <a:pPr algn="l" marL="712574" indent="-356287" lvl="1">
              <a:lnSpc>
                <a:spcPts val="4620"/>
              </a:lnSpc>
              <a:buFont typeface="Arial"/>
              <a:buChar char="•"/>
            </a:pPr>
            <a:r>
              <a:rPr lang="en-US" sz="33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SUPPORT ROTORFLIGHT ADVANCED FEATURES</a:t>
            </a:r>
          </a:p>
          <a:p>
            <a:pPr algn="l" marL="712574" indent="-356287" lvl="1">
              <a:lnSpc>
                <a:spcPts val="4620"/>
              </a:lnSpc>
              <a:buFont typeface="Arial"/>
              <a:buChar char="•"/>
            </a:pPr>
            <a:r>
              <a:rPr lang="en-US" sz="33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INTEGRATE ESP32-S3 VISION MODULE</a:t>
            </a:r>
          </a:p>
          <a:p>
            <a:pPr algn="l" marL="712574" indent="-356287" lvl="1">
              <a:lnSpc>
                <a:spcPts val="4620"/>
              </a:lnSpc>
              <a:buFont typeface="Arial"/>
              <a:buChar char="•"/>
            </a:pPr>
            <a:r>
              <a:rPr lang="en-US" sz="33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ADD SONY IMX219 SURVEILLANCE CAMERA</a:t>
            </a:r>
          </a:p>
          <a:p>
            <a:pPr algn="l" marL="712574" indent="-356287" lvl="1">
              <a:lnSpc>
                <a:spcPts val="4620"/>
              </a:lnSpc>
              <a:buFont typeface="Arial"/>
              <a:buChar char="•"/>
            </a:pPr>
            <a:r>
              <a:rPr lang="en-US" sz="33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ADD LIVE VIDEO TRANSMISSION</a:t>
            </a:r>
          </a:p>
        </p:txBody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228636" y="3542734"/>
            <a:ext cx="5830729" cy="1377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00"/>
              </a:lnSpc>
              <a:spcBef>
                <a:spcPct val="0"/>
              </a:spcBef>
            </a:pPr>
            <a:r>
              <a:rPr lang="en-US" b="true" sz="8000" i="true">
                <a:solidFill>
                  <a:srgbClr val="000000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DAHOOWSvM-0</dc:identifier>
  <dcterms:modified xsi:type="dcterms:W3CDTF">2011-08-01T06:04:30Z</dcterms:modified>
  <cp:revision>1</cp:revision>
  <dc:title>Non Text Magic Studio Magic Design for Presentations L&amp;P</dc:title>
</cp:coreProperties>
</file>